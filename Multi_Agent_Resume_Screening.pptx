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Calibri"/>
              </a:rPr>
              <a:t>Ranking Correlation at Top 20/15/10% Thresholds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Single LLM</c:v>
                </c:pt>
              </c:strCache>
            </c:strRef>
          </c:tx>
          <c:spPr>
            <a:solidFill>
              <a:srgbClr val="5A6B7B"/>
            </a:solidFill>
            <a:ln w="9525" cap="flat">
              <a:solidFill>
                <a:srgbClr val="121D3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PC20</c:v>
                  </c:pt>
                  <c:pt idx="1">
                    <c:v>SC20</c:v>
                  </c:pt>
                  <c:pt idx="2">
                    <c:v>PC15</c:v>
                  </c:pt>
                  <c:pt idx="3">
                    <c:v>SC15</c:v>
                  </c:pt>
                  <c:pt idx="4">
                    <c:v>PC10</c:v>
                  </c:pt>
                  <c:pt idx="5">
                    <c:v>SC10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0.03</c:v>
                </c:pt>
                <c:pt idx="1">
                  <c:v>0.34</c:v>
                </c:pt>
                <c:pt idx="2">
                  <c:v>0.06</c:v>
                </c:pt>
                <c:pt idx="3">
                  <c:v>0.44</c:v>
                </c:pt>
                <c:pt idx="4">
                  <c:v>0.09</c:v>
                </c:pt>
                <c:pt idx="5">
                  <c:v>0.43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Multi-Agent RAG LLM</c:v>
                </c:pt>
              </c:strCache>
            </c:strRef>
          </c:tx>
          <c:spPr>
            <a:solidFill>
              <a:srgbClr val="02C39A"/>
            </a:solidFill>
            <a:ln w="9525" cap="flat">
              <a:solidFill>
                <a:srgbClr val="121D3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PC20</c:v>
                  </c:pt>
                  <c:pt idx="1">
                    <c:v>SC20</c:v>
                  </c:pt>
                  <c:pt idx="2">
                    <c:v>PC15</c:v>
                  </c:pt>
                  <c:pt idx="3">
                    <c:v>SC15</c:v>
                  </c:pt>
                  <c:pt idx="4">
                    <c:v>PC10</c:v>
                  </c:pt>
                  <c:pt idx="5">
                    <c:v>SC10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0.76</c:v>
                </c:pt>
                <c:pt idx="1">
                  <c:v>0.76</c:v>
                </c:pt>
                <c:pt idx="2">
                  <c:v>0.8</c:v>
                </c:pt>
                <c:pt idx="3">
                  <c:v>0.8</c:v>
                </c:pt>
                <c:pt idx="4">
                  <c:v>0.86</c:v>
                </c:pt>
                <c:pt idx="5">
                  <c:v>0.8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8F1F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9525" cap="flat">
              <a:solidFill>
                <a:srgbClr val="3A4A6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8F1F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E8F1F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02C39A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SCREENING • CANDIDATE EVALUATION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9875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Multi-Agent Retrieval-Augmented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for Intelligent Resume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Screening &amp; Candidate Evaluation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RAG, dense semantic retrieval, and a collaborative LLM agent panel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(Resume Evaluator, CEO, CTO, HR) to move recruitment beyond keyword matching.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4406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22960" y="5989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Resumes evaluated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566160" y="54406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66160" y="5989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Top-10% Pearson corr.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309360" y="54406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09360" y="5989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paradigms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Traditional Recruitment Systems Fall Short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8F1F2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8562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56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8562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Keyword-Only Matching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04672" y="246888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Applicant Tracking Systems (ATS) rely on rigid keyword filters and rule-based rejection, missing candidates whose phrasing doesn't match exactly.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8F1F2"/>
          </a:solidFill>
          <a:ln/>
        </p:spPr>
      </p:sp>
      <p:sp>
        <p:nvSpPr>
          <p:cNvPr id="10" name="Shape 8"/>
          <p:cNvSpPr/>
          <p:nvPr/>
        </p:nvSpPr>
        <p:spPr>
          <a:xfrm>
            <a:off x="6519672" y="18562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1856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0" y="18562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Standalone LLM Risks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519672" y="246888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improve reasoning and language understanding, but on their own they hallucinate, rely on outdated knowledge, and produce inconsistent hiring decisions.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8F1F2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" y="41879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418795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Organizational Perspective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04672" y="480060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evaluator score can't reflect the different lenses recruiters actually use — leadership fit, technical depth, and cultural/communication fit.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93192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8F1F2"/>
          </a:solidFill>
          <a:ln/>
        </p:spPr>
      </p:sp>
      <p:sp>
        <p:nvSpPr>
          <p:cNvPr id="20" name="Shape 18"/>
          <p:cNvSpPr/>
          <p:nvPr/>
        </p:nvSpPr>
        <p:spPr>
          <a:xfrm>
            <a:off x="6519672" y="41879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519672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32320" y="418795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Unreliable Human Ground Truth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519672" y="480060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inconsistent human annotator scores with simple means produces noisy, unrealistic benchmarks for evaluating any automated system.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Complementary Evaluation Methods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 shared RAG knowledge base (BAAI BGE embeddings + FAISS retrieval) over the CareerCorpus dataset of 302 candidate profiles.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611880" cy="3794760"/>
          </a:xfrm>
          <a:prstGeom prst="roundRect">
            <a:avLst>
              <a:gd name="adj" fmla="val 2532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4231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68680" y="310896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</a:t>
            </a:r>
            <a:endParaRPr lang="en-US" sz="18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Recruitment Panel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8680" y="4069080"/>
            <a:ext cx="54864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25196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Evaluator, CEO, CTO, and HR agents each independently score candidates; a Hiring Coordinator merges outputs into a final report.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2148840"/>
            <a:ext cx="3611880" cy="3794760"/>
          </a:xfrm>
          <a:prstGeom prst="roundRect">
            <a:avLst>
              <a:gd name="adj" fmla="val 2532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4231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754880" y="310896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Weight</a:t>
            </a:r>
            <a:endParaRPr lang="en-US" sz="18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Allocation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754880" y="4069080"/>
            <a:ext cx="54864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425196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dynamically assigns feature-level weights (skills, experience, education, domain) tailored to job domain and seniority level.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321040" y="2148840"/>
            <a:ext cx="3611880" cy="3794760"/>
          </a:xfrm>
          <a:prstGeom prst="roundRect">
            <a:avLst>
              <a:gd name="adj" fmla="val 2532"/>
            </a:avLst>
          </a:prstGeom>
          <a:solidFill>
            <a:srgbClr val="0E5C6B"/>
          </a:solidFill>
          <a:ln/>
        </p:spPr>
      </p:sp>
      <p:sp>
        <p:nvSpPr>
          <p:cNvPr id="16" name="Text 14"/>
          <p:cNvSpPr/>
          <p:nvPr/>
        </p:nvSpPr>
        <p:spPr>
          <a:xfrm>
            <a:off x="8641080" y="24231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8641080" y="310896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Annotator</a:t>
            </a:r>
            <a:endParaRPr lang="en-US" sz="18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Truth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641080" y="4069080"/>
            <a:ext cx="54864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41080" y="425196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Sentence-BERT similarity + Median Absolute Deviation replace simple averaging, weighting human annotators by consistency.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Intelligent Recruitment Panel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14600" cy="777240"/>
          </a:xfrm>
          <a:prstGeom prst="roundRect">
            <a:avLst>
              <a:gd name="adj" fmla="val 8235"/>
            </a:avLst>
          </a:prstGeom>
          <a:solidFill>
            <a:srgbClr val="22314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CareerCorpus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063240" y="1783080"/>
            <a:ext cx="3931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56432" y="1783080"/>
            <a:ext cx="2514600" cy="777240"/>
          </a:xfrm>
          <a:prstGeom prst="roundRect">
            <a:avLst>
              <a:gd name="adj" fmla="val 8235"/>
            </a:avLst>
          </a:prstGeom>
          <a:solidFill>
            <a:srgbClr val="22314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56432" y="178308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71032" y="1783080"/>
            <a:ext cx="3931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64224" y="1783080"/>
            <a:ext cx="2514600" cy="777240"/>
          </a:xfrm>
          <a:prstGeom prst="roundRect">
            <a:avLst>
              <a:gd name="adj" fmla="val 8235"/>
            </a:avLst>
          </a:prstGeom>
          <a:solidFill>
            <a:srgbClr val="22314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78308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Knowledge Base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(BGE + FAISS)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78824" y="1783080"/>
            <a:ext cx="3931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272016" y="1783080"/>
            <a:ext cx="2514600" cy="777240"/>
          </a:xfrm>
          <a:prstGeom prst="roundRect">
            <a:avLst>
              <a:gd name="adj" fmla="val 8235"/>
            </a:avLst>
          </a:prstGeom>
          <a:solidFill>
            <a:srgbClr val="22314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72016" y="178308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Evaluation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880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 decision panel — evaluated in parallel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371600" y="324612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32461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CEO Agent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977640" y="324612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3977640" y="32461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CTO Agent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83680" y="324612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2461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Agent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94960" y="4114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794760" y="457200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3794760" y="457200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Hiring Coordinator → Final JSON Report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5532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scores a distinct dimension — leadership &amp; business fit (CEO), technical depth (CTO), communication &amp; teamwork (HR) — then a coordinator agent consolidates the panel into one standardized recommendation with strengths, gaps, and a final decision.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Weight Allocation for Resume Scoring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fixed criterion weights, an LLM dynamically computes weights per job domain and seniority level, then caches them for reuse.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6583680" cy="1051560"/>
          </a:xfrm>
          <a:prstGeom prst="roundRect">
            <a:avLst>
              <a:gd name="adj" fmla="val 6957"/>
            </a:avLst>
          </a:prstGeom>
          <a:solidFill>
            <a:srgbClr val="E8F1F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94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G(R</a:t>
            </a:r>
            <a:pPr indent="0" marL="0">
              <a:buNone/>
            </a:pPr>
            <a:r>
              <a:rPr lang="en-US" sz="1300" i="1" baseline="-40000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pPr indent="0" marL="0">
              <a:buNone/>
            </a:pPr>
            <a:r>
              <a:rPr lang="en-US" sz="20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= Σ </a:t>
            </a:r>
            <a:pPr indent="0" marL="0">
              <a:buNone/>
            </a:pPr>
            <a:r>
              <a:rPr lang="en-US" sz="2000" i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pPr indent="0" marL="0">
              <a:buNone/>
            </a:pPr>
            <a:r>
              <a:rPr lang="en-US" sz="1300" i="1" baseline="-40000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pPr indent="0" marL="0">
              <a:buNone/>
            </a:pPr>
            <a:r>
              <a:rPr lang="en-US" sz="20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f</a:t>
            </a:r>
            <a:pPr indent="0" marL="0">
              <a:buNone/>
            </a:pPr>
            <a:r>
              <a:rPr lang="en-US" sz="1300" i="1" baseline="-40000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pPr indent="0" marL="0">
              <a:buNone/>
            </a:pPr>
            <a:r>
              <a:rPr lang="en-US" sz="20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(R</a:t>
            </a:r>
            <a:pPr indent="0" marL="0">
              <a:buNone/>
            </a:pPr>
            <a:r>
              <a:rPr lang="en-US" sz="1300" i="1" baseline="-40000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pPr indent="0" marL="0">
              <a:buNone/>
            </a:pPr>
            <a:r>
              <a:rPr lang="en-US" sz="20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score of candidate j, summed across K rated attributes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6583680" cy="475488"/>
          </a:xfrm>
          <a:prstGeom prst="roundRect">
            <a:avLst>
              <a:gd name="adj" fmla="val 11538"/>
            </a:avLst>
          </a:prstGeom>
          <a:solidFill>
            <a:srgbClr val="F3F7F7"/>
          </a:solidFill>
          <a:ln w="9525">
            <a:solidFill>
              <a:srgbClr val="D7E4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3483864"/>
            <a:ext cx="182880" cy="182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337560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913632"/>
            <a:ext cx="6583680" cy="475488"/>
          </a:xfrm>
          <a:prstGeom prst="roundRect">
            <a:avLst>
              <a:gd name="adj" fmla="val 11538"/>
            </a:avLst>
          </a:prstGeom>
          <a:solidFill>
            <a:srgbClr val="F3F7F7"/>
          </a:solidFill>
          <a:ln w="9525">
            <a:solidFill>
              <a:srgbClr val="D7E4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4059936"/>
            <a:ext cx="182880" cy="182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913632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489704"/>
            <a:ext cx="6583680" cy="475488"/>
          </a:xfrm>
          <a:prstGeom prst="roundRect">
            <a:avLst>
              <a:gd name="adj" fmla="val 11538"/>
            </a:avLst>
          </a:prstGeom>
          <a:solidFill>
            <a:srgbClr val="F3F7F7"/>
          </a:solidFill>
          <a:ln w="9525">
            <a:solidFill>
              <a:srgbClr val="D7E4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4636008"/>
            <a:ext cx="182880" cy="182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489704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Experience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065776"/>
            <a:ext cx="6583680" cy="475488"/>
          </a:xfrm>
          <a:prstGeom prst="roundRect">
            <a:avLst>
              <a:gd name="adj" fmla="val 11538"/>
            </a:avLst>
          </a:prstGeom>
          <a:solidFill>
            <a:srgbClr val="F3F7F7"/>
          </a:solidFill>
          <a:ln w="9525">
            <a:solidFill>
              <a:srgbClr val="D7E4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5212080"/>
            <a:ext cx="182880" cy="182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5065776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641848"/>
            <a:ext cx="6583680" cy="475488"/>
          </a:xfrm>
          <a:prstGeom prst="roundRect">
            <a:avLst>
              <a:gd name="adj" fmla="val 11538"/>
            </a:avLst>
          </a:prstGeom>
          <a:solidFill>
            <a:srgbClr val="F3F7F7"/>
          </a:solidFill>
          <a:ln w="9525">
            <a:solidFill>
              <a:srgbClr val="D7E4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5788152"/>
            <a:ext cx="182880" cy="182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5641848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Relevance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452360" y="1371600"/>
            <a:ext cx="4160520" cy="2331720"/>
          </a:xfrm>
          <a:prstGeom prst="roundRect">
            <a:avLst>
              <a:gd name="adj" fmla="val 3922"/>
            </a:avLst>
          </a:prstGeom>
          <a:solidFill>
            <a:srgbClr val="1B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772668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 Normalization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726680" y="201168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 weights are normalized so weights sum to 1, then combined with per-feature scores for a 0–10 scale dynamic resume score.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452360" y="3931920"/>
            <a:ext cx="4160520" cy="2194560"/>
          </a:xfrm>
          <a:prstGeom prst="roundRect">
            <a:avLst>
              <a:gd name="adj" fmla="val 4167"/>
            </a:avLst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772668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 Caching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726680" y="45720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are stored per job domain + level. Matching future resumes reuse cached weights instead of recomputation — cutting API calls and keeping same-category scoring consistent.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Annotator Ground Truth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simple averaging of human annotator scores with a semantically-informed, consistency-weighted ground truth.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3774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&amp; Embed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21488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attributes are merged into a single textual profile and embedded using Sentence-BERT.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08960" y="35661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83280" y="21488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23774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11880" y="274320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Retrieval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3611880" y="3611880"/>
            <a:ext cx="21488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Semantically similar resumes are retrieved to contextualize each candidate's evaluation.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43600" y="35661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217920" y="21488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23774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46520" y="274320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 Scoring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446520" y="3611880"/>
            <a:ext cx="21488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Absolute Deviation (MAD) measures each human annotator's consistency across ratings.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778240" y="35661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052560" y="21488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9281160" y="23774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281160" y="274320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Weighted Ground Truth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9281160" y="3611880"/>
            <a:ext cx="21488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scores become normalized annotator weights, producing a dynamic consensus ground-truth score.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5943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more realistic benchmark that reflects annotator reliability rather than treating every human rating as equally trustworthy.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Dataset, Setup &amp; Evaluation Metrics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CareerCorpus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302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candidate profiles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3429000"/>
            <a:ext cx="274320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61188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technical skills, education, job type, domain, and achievements — preprocessed to remove nulls and irrelevant formatting.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4846320"/>
            <a:ext cx="274320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0292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BAAI BGE (small-EN) embeddings + FAISS index power semantic retrieval; multiple LLMs served via OpenRouter.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15544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E8F1F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755648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Pearson / Spearman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514600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correlation and rank-order agreement between predicted and human scores.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92440" y="15544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E8F1F2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1755648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 / RMSE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21040" y="2514600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and penalized magnitude of prediction error vs. ground truth.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43400" y="39319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E8F1F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4133088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(coefficient of determination)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0" y="4892040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variance in ground truth scores the model explains.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92440" y="39319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E8F1F2"/>
          </a:solidFill>
          <a:ln/>
        </p:spPr>
      </p:sp>
      <p:sp>
        <p:nvSpPr>
          <p:cNvPr id="22" name="Text 20"/>
          <p:cNvSpPr/>
          <p:nvPr/>
        </p:nvSpPr>
        <p:spPr>
          <a:xfrm>
            <a:off x="8321040" y="4133088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PC10 / SC10, PC15/SC15, PC20/SC20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21040" y="4892040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&amp; Spearman correlation restricted to the top 10%, 15%, 20% ranked resumes — precision on top candidates.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METHOD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RAG LLM vs. Single LLM Baseline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50876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22314F"/>
          </a:solidFill>
          <a:ln/>
        </p:spPr>
      </p:sp>
      <p:sp>
        <p:nvSpPr>
          <p:cNvPr id="6" name="Text 3"/>
          <p:cNvSpPr/>
          <p:nvPr/>
        </p:nvSpPr>
        <p:spPr>
          <a:xfrm>
            <a:off x="8001000" y="1645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PC10: 0.09 → 0.86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001000" y="21031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Top-10% ranking correlation improves dramatically with the multi-agent panel.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772400" y="288036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22314F"/>
          </a:solidFill>
          <a:ln/>
        </p:spPr>
      </p:sp>
      <p:sp>
        <p:nvSpPr>
          <p:cNvPr id="9" name="Text 6"/>
          <p:cNvSpPr/>
          <p:nvPr/>
        </p:nvSpPr>
        <p:spPr>
          <a:xfrm>
            <a:off x="8001000" y="30175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Spearman: 0.62 → 0.65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001000" y="34747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rank agreement with human evaluators strengthens.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772400" y="4251960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22314F"/>
          </a:solidFill>
          <a:ln/>
        </p:spPr>
      </p:sp>
      <p:sp>
        <p:nvSpPr>
          <p:cNvPr id="12" name="Text 9"/>
          <p:cNvSpPr/>
          <p:nvPr/>
        </p:nvSpPr>
        <p:spPr>
          <a:xfrm>
            <a:off x="8001000" y="4389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C5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001000" y="475488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LLM keeps lower MAE (0.98) &amp; RMSE (1.58) — it predicts raw scores more precisely, but ranks candidates worse.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CROSS-PARADIGM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LLM vs. Dynamic LLM vs. Proposed Multi-Agent</a:t>
            </a:r>
            <a:endParaRPr lang="en-US" sz="2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675120" cy="2743200"/>
        </p:xfrm>
        <a:graphic>
          <a:graphicData uri="http://schemas.openxmlformats.org/drawingml/2006/table">
            <a:tbl>
              <a:tblPr/>
              <a:tblGrid>
                <a:gridCol w="2194560"/>
                <a:gridCol w="1463040"/>
                <a:gridCol w="146304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LLM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LLM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Multi-Agent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1.6324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1.2927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Pearson Correlation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 Correlation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43484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Spearman correlation (0.6442) → superior preservation of candidate rankings, even though raw error (MAE) is slightly higher.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543800" y="1463040"/>
            <a:ext cx="4069080" cy="1417320"/>
          </a:xfrm>
          <a:prstGeom prst="roundRect">
            <a:avLst>
              <a:gd name="adj" fmla="val 5806"/>
            </a:avLst>
          </a:prstGeom>
          <a:solidFill>
            <a:srgbClr val="028090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0" y="16276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&amp; Dynamic LLM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0" y="20116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on raw accuracy — lowest RMSE/MAE, best at predicting the exact numeric score.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543800" y="3017520"/>
            <a:ext cx="4069080" cy="1417320"/>
          </a:xfrm>
          <a:prstGeom prst="roundRect">
            <a:avLst>
              <a:gd name="adj" fmla="val 5806"/>
            </a:avLst>
          </a:prstGeom>
          <a:solidFill>
            <a:srgbClr val="1B2A4A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0" y="31821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Multi-Agent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0" y="35661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on ranking quality &amp; explainability — what actually matters for shortlisting candidates.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543800" y="4572000"/>
            <a:ext cx="4069080" cy="1371600"/>
          </a:xfrm>
          <a:prstGeom prst="roundRect">
            <a:avLst>
              <a:gd name="adj" fmla="val 6000"/>
            </a:avLst>
          </a:prstGeom>
          <a:solidFill>
            <a:srgbClr val="E8F1F2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0" y="47365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72400" y="51206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is fundamentally a ranking task — correctly ordering top candidates beats minimizing small numeric errors.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28090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Robust, Explainable Path to AI-Assisted Hiring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128016" cy="82296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87452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RAG with a specialized multi-agent panel (CEO, CTO, HR) automates screening while preserving balanced organizational judgment.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834640"/>
            <a:ext cx="128016" cy="82296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83464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weighting and a Sentence-BERT + MAD ground truth make evaluation adaptive across job domains and more faithful to human consensus.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3794760"/>
            <a:ext cx="128016" cy="82296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79476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metrics (PC10/SC10 up to 0.86 / 0.87) show the framework excels precisely where recruitment matters most — identifying top-tier candidates.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4892040"/>
            <a:ext cx="10332720" cy="0"/>
          </a:xfrm>
          <a:prstGeom prst="line">
            <a:avLst/>
          </a:prstGeom>
          <a:noFill/>
          <a:ln w="12700">
            <a:solidFill>
              <a:srgbClr val="3341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074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5394960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multimodal candidate data (audio/video interviews), add real-time recruiter feedback loops, and explore lightweight open-source local LLMs for data-private, on-prem deployment.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2026-07-27T16:25:29Z</dcterms:created>
  <dcterms:modified xsi:type="dcterms:W3CDTF">2026-07-27T16:25:29Z</dcterms:modified>
</cp:coreProperties>
</file>